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9A93"/>
    <a:srgbClr val="D04A02"/>
    <a:srgbClr val="2E2E2C"/>
    <a:srgbClr val="EB8C00"/>
    <a:srgbClr val="B4B2A9"/>
    <a:srgbClr val="222220"/>
    <a:srgbClr val="7D4012"/>
    <a:srgbClr val="FFF6EC"/>
    <a:srgbClr val="7D7D7D"/>
    <a:srgbClr val="E5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57130-71E5-4D10-A13C-6B403619A87E}" v="35" dt="2026-06-14T02:15:48.637"/>
    <p1510:client id="{0FD8AF1D-005E-4CEC-AD6A-520BEC9301C7}" v="5" dt="2026-06-14T02:32:15.330"/>
    <p1510:client id="{7B529F0E-A76E-4082-92EB-F822FD781479}" v="553" dt="2026-06-13T01:49:01.637"/>
    <p1510:client id="{9934CFBE-5293-4DFA-8269-4FB313A34BC7}" v="30" dt="2026-06-14T02:40:34.021"/>
    <p1510:client id="{B52E1F85-B1DD-4D62-900E-3DDC3A8725A2}" v="36" dt="2026-06-14T03:14:24.013"/>
    <p1510:client id="{D298DDA7-6F83-4C08-A8E6-4AE5D26B1E86}" v="86" dt="2026-06-14T02:28:31.027"/>
    <p1510:client id="{ECE3FDE9-A14C-4CF4-8D86-46D8F33C2FBA}" v="1" dt="2026-06-13T04:11:56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dekaramisha-ops" TargetMode="External"/><Relationship Id="rId2" Type="http://schemas.openxmlformats.org/officeDocument/2006/relationships/hyperlink" Target="https://www.linkedin.com/in/amisha-gadeka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81E026-52E8-B06B-477E-9E97DB887D3D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188F1A-711E-862B-2731-EEED4C151736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F8753-42A5-C066-DB73-FC769D97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ABD323-B329-C8CE-61ED-7D789B1E70F9}"/>
              </a:ext>
            </a:extLst>
          </p:cNvPr>
          <p:cNvSpPr txBox="1"/>
          <p:nvPr/>
        </p:nvSpPr>
        <p:spPr>
          <a:xfrm>
            <a:off x="1366041" y="515226"/>
            <a:ext cx="1034562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  Operations &amp; Resource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C11D39-1AB4-4112-2810-6145AFB6D277}"/>
              </a:ext>
            </a:extLst>
          </p:cNvPr>
          <p:cNvSpPr txBox="1"/>
          <p:nvPr/>
        </p:nvSpPr>
        <p:spPr>
          <a:xfrm>
            <a:off x="147602" y="1556539"/>
            <a:ext cx="11861905" cy="469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4701D-B98E-6283-BB1E-A61D1E977699}"/>
              </a:ext>
            </a:extLst>
          </p:cNvPr>
          <p:cNvSpPr txBox="1"/>
          <p:nvPr/>
        </p:nvSpPr>
        <p:spPr>
          <a:xfrm>
            <a:off x="590281" y="6340161"/>
            <a:ext cx="440973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dirty="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</a:t>
            </a:r>
            <a:r>
              <a:rPr lang="en-US" sz="1200" dirty="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Portfolio Project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F73D0B-EF40-CF87-410B-235060E4557E}"/>
              </a:ext>
            </a:extLst>
          </p:cNvPr>
          <p:cNvSpPr txBox="1"/>
          <p:nvPr/>
        </p:nvSpPr>
        <p:spPr>
          <a:xfrm>
            <a:off x="7483162" y="6329430"/>
            <a:ext cx="471234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Python  •  MySQL  •  Power BI</a:t>
            </a:r>
            <a:r>
              <a:rPr lang="en-US" sz="1200" dirty="0">
                <a:solidFill>
                  <a:srgbClr val="DA4A0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09A005-B00D-9487-2012-8F2E9C6754A0}"/>
              </a:ext>
            </a:extLst>
          </p:cNvPr>
          <p:cNvSpPr txBox="1"/>
          <p:nvPr/>
        </p:nvSpPr>
        <p:spPr>
          <a:xfrm>
            <a:off x="350145" y="4259007"/>
            <a:ext cx="57107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data driven analysis of 5000 calls across 8  </a:t>
            </a:r>
            <a:r>
              <a:rPr lang="en-US" sz="14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agents – from </a:t>
            </a:r>
            <a:endParaRPr lang="en-US" sz="1400" i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i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Raw data to dashb</a:t>
            </a:r>
            <a:r>
              <a:rPr lang="en-US" sz="1400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oard.</a:t>
            </a:r>
            <a:endParaRPr lang="en-US" sz="1400" i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CB3510-2F3B-7389-2AB3-2BEDC422A0E4}"/>
              </a:ext>
            </a:extLst>
          </p:cNvPr>
          <p:cNvCxnSpPr/>
          <p:nvPr/>
        </p:nvCxnSpPr>
        <p:spPr>
          <a:xfrm>
            <a:off x="586258" y="6263396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7B635C-988A-E48E-F0E0-573C2514BAD3}"/>
              </a:ext>
            </a:extLst>
          </p:cNvPr>
          <p:cNvSpPr txBox="1"/>
          <p:nvPr/>
        </p:nvSpPr>
        <p:spPr>
          <a:xfrm>
            <a:off x="354286" y="2281182"/>
            <a:ext cx="269710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600" b="1">
                <a:solidFill>
                  <a:srgbClr val="FF8400"/>
                </a:solidFill>
                <a:latin typeface="Arial"/>
                <a:ea typeface="Calibri"/>
                <a:cs typeface="Arial"/>
              </a:rPr>
              <a:t>19%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29B2FB-FFB5-011F-B25C-2ACE77298A5B}"/>
              </a:ext>
            </a:extLst>
          </p:cNvPr>
          <p:cNvSpPr txBox="1"/>
          <p:nvPr/>
        </p:nvSpPr>
        <p:spPr>
          <a:xfrm>
            <a:off x="2957464" y="2946603"/>
            <a:ext cx="29231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of calls went unanswered.</a:t>
            </a:r>
          </a:p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We set out to find why.</a:t>
            </a:r>
            <a:endParaRPr lang="en-US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F0B9CA-493D-3CE9-2DDD-4D479A86A832}"/>
              </a:ext>
            </a:extLst>
          </p:cNvPr>
          <p:cNvSpPr/>
          <p:nvPr/>
        </p:nvSpPr>
        <p:spPr>
          <a:xfrm>
            <a:off x="834489" y="3853212"/>
            <a:ext cx="1725680" cy="80511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7038AB-685A-E426-497E-24141CA7969B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latin typeface="Calibri"/>
                <a:ea typeface="Calibri"/>
                <a:cs typeface="Calibri"/>
              </a:rPr>
              <a:t>Project </a:t>
            </a:r>
            <a:r>
              <a:rPr lang="en-US" sz="2800" b="1">
                <a:latin typeface="Calibri"/>
                <a:ea typeface="Calibri"/>
                <a:cs typeface="Calibri"/>
              </a:rPr>
              <a:t>Overview</a:t>
            </a:r>
            <a:endParaRPr lang="en-US" sz="28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logo of a company&#10;&#10;AI-generated content may be incorrect.">
            <a:extLst>
              <a:ext uri="{FF2B5EF4-FFF2-40B4-BE49-F238E27FC236}">
                <a16:creationId xmlns:a16="http://schemas.microsoft.com/office/drawing/2014/main" id="{E1BD633B-BEBE-7F3C-430B-45D3324D3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4B0C61-188B-5442-B54D-91B4540BFFA7}"/>
              </a:ext>
            </a:extLst>
          </p:cNvPr>
          <p:cNvSpPr txBox="1"/>
          <p:nvPr/>
        </p:nvSpPr>
        <p:spPr>
          <a:xfrm>
            <a:off x="292519" y="1720247"/>
            <a:ext cx="182243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ABOUT THIS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C0A694-6F29-D6AD-69AF-9F186AA3DB02}"/>
              </a:ext>
            </a:extLst>
          </p:cNvPr>
          <p:cNvSpPr txBox="1"/>
          <p:nvPr/>
        </p:nvSpPr>
        <p:spPr>
          <a:xfrm>
            <a:off x="287130" y="2032000"/>
            <a:ext cx="79844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222220"/>
                </a:solidFill>
                <a:latin typeface="Calibri"/>
                <a:ea typeface="Calibri"/>
                <a:cs typeface="Calibri"/>
              </a:rPr>
              <a:t>An end-to-end analysis turning 5,000 raw call records into operational insight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B60E8-15CF-45F7-879B-816B91BBECE3}"/>
              </a:ext>
            </a:extLst>
          </p:cNvPr>
          <p:cNvSpPr txBox="1"/>
          <p:nvPr/>
        </p:nvSpPr>
        <p:spPr>
          <a:xfrm>
            <a:off x="278269" y="3202735"/>
            <a:ext cx="2947453" cy="167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alibri"/>
                <a:ea typeface="Calibri"/>
                <a:cs typeface="Calibri"/>
              </a:rPr>
              <a:t>This project analyses </a:t>
            </a:r>
            <a:r>
              <a:rPr lang="en-US" sz="1400" b="1" dirty="0">
                <a:latin typeface="Calibri"/>
                <a:ea typeface="Calibri"/>
                <a:cs typeface="Calibri"/>
              </a:rPr>
              <a:t>Q1 2021 Call Centre operations</a:t>
            </a:r>
            <a:r>
              <a:rPr lang="en-US" sz="1400" dirty="0">
                <a:latin typeface="Calibri"/>
                <a:ea typeface="Calibri"/>
                <a:cs typeface="Calibri"/>
              </a:rPr>
              <a:t> from PwC's public dataset to identify why nearly one in five calls went unanswered - and where the operation can improve.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300CB-2A31-C46E-EF3C-22A6F543A6BA}"/>
              </a:ext>
            </a:extLst>
          </p:cNvPr>
          <p:cNvSpPr txBox="1"/>
          <p:nvPr/>
        </p:nvSpPr>
        <p:spPr>
          <a:xfrm>
            <a:off x="136119" y="4876978"/>
            <a:ext cx="3364791" cy="8935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▸  </a:t>
            </a:r>
            <a:r>
              <a:rPr lang="en-US" sz="120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5,000 calls · January- March </a:t>
            </a:r>
            <a:r>
              <a:rPr lang="en-US" sz="1200" dirty="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2021</a:t>
            </a:r>
            <a:endParaRPr lang="en-US" sz="1200"/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▸  </a:t>
            </a:r>
            <a:r>
              <a:rPr lang="en-US" sz="120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8 agents across 5 call topics</a:t>
            </a:r>
            <a:endParaRPr lang="en-US" sz="1200" dirty="0">
              <a:solidFill>
                <a:srgbClr val="5F5E5A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▸  </a:t>
            </a:r>
            <a:r>
              <a:rPr lang="en-US" sz="1200">
                <a:solidFill>
                  <a:srgbClr val="5F5E5A"/>
                </a:solidFill>
                <a:latin typeface="Calibri"/>
                <a:ea typeface="Calibri"/>
                <a:cs typeface="Calibri"/>
              </a:rPr>
              <a:t>Source: PwC Call Centre Trends Dataset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2CF316-2179-FF25-21FC-E159976F2FF2}"/>
              </a:ext>
            </a:extLst>
          </p:cNvPr>
          <p:cNvSpPr/>
          <p:nvPr/>
        </p:nvSpPr>
        <p:spPr>
          <a:xfrm>
            <a:off x="3243065" y="3430031"/>
            <a:ext cx="2472456" cy="1569068"/>
          </a:xfrm>
          <a:prstGeom prst="roundRect">
            <a:avLst/>
          </a:prstGeom>
          <a:solidFill>
            <a:srgbClr val="FFF6EC"/>
          </a:solidFill>
          <a:ln>
            <a:solidFill>
              <a:srgbClr val="F0D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2E50C7-0F07-F14A-FE0B-4AA73EE4F852}"/>
              </a:ext>
            </a:extLst>
          </p:cNvPr>
          <p:cNvSpPr/>
          <p:nvPr/>
        </p:nvSpPr>
        <p:spPr>
          <a:xfrm>
            <a:off x="6370808" y="3430028"/>
            <a:ext cx="2481316" cy="1560210"/>
          </a:xfrm>
          <a:prstGeom prst="roundRect">
            <a:avLst/>
          </a:prstGeom>
          <a:solidFill>
            <a:srgbClr val="FFF6EC"/>
          </a:solidFill>
          <a:ln>
            <a:solidFill>
              <a:srgbClr val="F0D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F0D6B8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43125E-C787-53B9-AF2E-766D6F9A7B5E}"/>
              </a:ext>
            </a:extLst>
          </p:cNvPr>
          <p:cNvSpPr/>
          <p:nvPr/>
        </p:nvSpPr>
        <p:spPr>
          <a:xfrm>
            <a:off x="9500390" y="3432368"/>
            <a:ext cx="2463595" cy="1551348"/>
          </a:xfrm>
          <a:prstGeom prst="roundRect">
            <a:avLst/>
          </a:prstGeom>
          <a:solidFill>
            <a:srgbClr val="222220"/>
          </a:solidFill>
          <a:ln>
            <a:solidFill>
              <a:srgbClr val="2222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DC2C1-544A-DDDE-E093-D08768159376}"/>
              </a:ext>
            </a:extLst>
          </p:cNvPr>
          <p:cNvSpPr txBox="1"/>
          <p:nvPr/>
        </p:nvSpPr>
        <p:spPr>
          <a:xfrm>
            <a:off x="3241276" y="3621303"/>
            <a:ext cx="2434424" cy="1261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solidFill>
                  <a:srgbClr val="D04A02"/>
                </a:solidFill>
              </a:rPr>
              <a:t>01</a:t>
            </a:r>
            <a:endParaRPr lang="en-US" b="1"/>
          </a:p>
          <a:p>
            <a:pPr algn="ctr">
              <a:lnSpc>
                <a:spcPct val="150000"/>
              </a:lnSpc>
            </a:pPr>
            <a:r>
              <a:rPr lang="en-US" sz="2000" b="1">
                <a:latin typeface="Calibri"/>
                <a:ea typeface="Calibri"/>
                <a:cs typeface="Calibri"/>
              </a:rPr>
              <a:t>Python</a:t>
            </a:r>
          </a:p>
          <a:p>
            <a:pPr algn="ctr">
              <a:lnSpc>
                <a:spcPct val="150000"/>
              </a:lnSpc>
            </a:pPr>
            <a:r>
              <a:rPr lang="en-US" sz="1400">
                <a:solidFill>
                  <a:srgbClr val="7D7D7D"/>
                </a:solidFill>
              </a:rPr>
              <a:t>Clean &amp; prepare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790817-054A-B05C-CF35-A315C9DC9CB9}"/>
              </a:ext>
            </a:extLst>
          </p:cNvPr>
          <p:cNvSpPr txBox="1"/>
          <p:nvPr/>
        </p:nvSpPr>
        <p:spPr>
          <a:xfrm>
            <a:off x="6413322" y="3621303"/>
            <a:ext cx="2434424" cy="1261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solidFill>
                  <a:srgbClr val="D04A02"/>
                </a:solidFill>
              </a:rPr>
              <a:t>02</a:t>
            </a:r>
            <a:endParaRPr lang="en-US" b="1"/>
          </a:p>
          <a:p>
            <a:pPr algn="ctr">
              <a:lnSpc>
                <a:spcPct val="150000"/>
              </a:lnSpc>
            </a:pPr>
            <a:r>
              <a:rPr lang="en-US" sz="2000" b="1">
                <a:latin typeface="Calibri"/>
                <a:ea typeface="Calibri"/>
                <a:cs typeface="Calibri"/>
              </a:rPr>
              <a:t>MySQL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D7D7D"/>
                </a:solidFill>
              </a:rPr>
              <a:t>Query &amp; analyse KPIs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BFF185-34B8-252C-967F-2CC479C4D5D9}"/>
              </a:ext>
            </a:extLst>
          </p:cNvPr>
          <p:cNvSpPr txBox="1"/>
          <p:nvPr/>
        </p:nvSpPr>
        <p:spPr>
          <a:xfrm>
            <a:off x="9514484" y="3577001"/>
            <a:ext cx="2434424" cy="1261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solidFill>
                  <a:srgbClr val="D04A02"/>
                </a:solidFill>
              </a:rPr>
              <a:t>03</a:t>
            </a:r>
            <a:endParaRPr lang="en-US" b="1"/>
          </a:p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Power BI</a:t>
            </a:r>
            <a:endParaRPr lang="en-US" sz="20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7D7D7D"/>
                </a:solidFill>
              </a:rPr>
              <a:t>Visualise &amp; Report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67C0080-FFDB-993D-C0F8-173E4E1C7924}"/>
              </a:ext>
            </a:extLst>
          </p:cNvPr>
          <p:cNvCxnSpPr/>
          <p:nvPr/>
        </p:nvCxnSpPr>
        <p:spPr>
          <a:xfrm>
            <a:off x="5715915" y="4254406"/>
            <a:ext cx="646683" cy="1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B3BC0E-B56F-017E-197D-1A6FDB8BDD01}"/>
              </a:ext>
            </a:extLst>
          </p:cNvPr>
          <p:cNvCxnSpPr>
            <a:cxnSpLocks/>
          </p:cNvCxnSpPr>
          <p:nvPr/>
        </p:nvCxnSpPr>
        <p:spPr>
          <a:xfrm>
            <a:off x="8852519" y="4210104"/>
            <a:ext cx="646683" cy="1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92D9880-13AB-7542-75C5-3E8FCD90CFD3}"/>
              </a:ext>
            </a:extLst>
          </p:cNvPr>
          <p:cNvSpPr/>
          <p:nvPr/>
        </p:nvSpPr>
        <p:spPr>
          <a:xfrm>
            <a:off x="3233217" y="5214371"/>
            <a:ext cx="8737016" cy="575580"/>
          </a:xfrm>
          <a:prstGeom prst="roundRect">
            <a:avLst/>
          </a:prstGeom>
          <a:solidFill>
            <a:srgbClr val="F1EF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◆ </a:t>
            </a:r>
            <a:r>
              <a:rPr lang="en-US" sz="1600" b="1">
                <a:solidFill>
                  <a:srgbClr val="464646"/>
                </a:solidFill>
                <a:latin typeface="Calibri"/>
                <a:ea typeface="Calibri"/>
                <a:cs typeface="Calibri"/>
              </a:rPr>
              <a:t>Outcome</a:t>
            </a:r>
            <a:r>
              <a:rPr lang="en-US" sz="1600">
                <a:solidFill>
                  <a:srgbClr val="464646"/>
                </a:solidFill>
                <a:latin typeface="Calibri"/>
                <a:ea typeface="Calibri"/>
                <a:cs typeface="Calibri"/>
              </a:rPr>
              <a:t>: A 2-page interactive dashboard with cross-validated KPIs and 3 actionable recommendations for management.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104DF2-E3DE-34DC-761A-7640C2345EA8}"/>
              </a:ext>
            </a:extLst>
          </p:cNvPr>
          <p:cNvCxnSpPr/>
          <p:nvPr/>
        </p:nvCxnSpPr>
        <p:spPr>
          <a:xfrm>
            <a:off x="586258" y="6263396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1A9A3B-D19E-48DB-3CCF-F527D240912F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4A303-9A33-3523-9153-40C8927AA786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1A09A7-0CDF-9A66-21AE-5D1E898F969E}"/>
              </a:ext>
            </a:extLst>
          </p:cNvPr>
          <p:cNvSpPr txBox="1"/>
          <p:nvPr/>
        </p:nvSpPr>
        <p:spPr>
          <a:xfrm>
            <a:off x="3502967" y="3020283"/>
            <a:ext cx="3670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How It Was Built – 3 Stage </a:t>
            </a:r>
            <a:r>
              <a:rPr lang="en-US" b="1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Workflow</a:t>
            </a:r>
            <a:endParaRPr lang="en-US" b="1" dirty="0">
              <a:solidFill>
                <a:srgbClr val="7D7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D2EF45-6C9A-2282-94A1-9001E101AEAE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8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8BE4A7-08F1-BF15-3122-D2C170A85D87}"/>
              </a:ext>
            </a:extLst>
          </p:cNvPr>
          <p:cNvSpPr/>
          <p:nvPr/>
        </p:nvSpPr>
        <p:spPr>
          <a:xfrm>
            <a:off x="5232094" y="3427016"/>
            <a:ext cx="1784653" cy="103322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52E7CF5-168B-4144-3D78-9910FC7BDA9F}"/>
              </a:ext>
            </a:extLst>
          </p:cNvPr>
          <p:cNvSpPr/>
          <p:nvPr/>
        </p:nvSpPr>
        <p:spPr>
          <a:xfrm>
            <a:off x="7722009" y="3427016"/>
            <a:ext cx="1784653" cy="103322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BFA6535-DFCB-E9BE-239B-6110956EA6AB}"/>
              </a:ext>
            </a:extLst>
          </p:cNvPr>
          <p:cNvSpPr/>
          <p:nvPr/>
        </p:nvSpPr>
        <p:spPr>
          <a:xfrm>
            <a:off x="10104601" y="3427016"/>
            <a:ext cx="1784653" cy="103322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B73640-CDB0-D0C1-9E7D-AE90DEC70E13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Calibri"/>
                <a:ea typeface="Calibri"/>
                <a:cs typeface="Calibri"/>
              </a:rPr>
              <a:t>Key Findings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800" b="1">
                <a:latin typeface="Calibri"/>
                <a:ea typeface="Calibri"/>
                <a:cs typeface="Calibri"/>
              </a:rPr>
              <a:t>- The Headline Numbers</a:t>
            </a:r>
          </a:p>
        </p:txBody>
      </p:sp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578799E2-2F52-4463-8C9C-28DE80C6F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011FBDA-98DF-8A73-F28D-48EF94EA5CC4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77BA4-9DA5-0513-2C41-A70AEED74308}"/>
              </a:ext>
            </a:extLst>
          </p:cNvPr>
          <p:cNvSpPr txBox="1"/>
          <p:nvPr/>
        </p:nvSpPr>
        <p:spPr>
          <a:xfrm>
            <a:off x="150301" y="1714874"/>
            <a:ext cx="13265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FINDING 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DFA0F6-00A3-03E3-BAFB-B8ABBAC79FDD}"/>
              </a:ext>
            </a:extLst>
          </p:cNvPr>
          <p:cNvSpPr txBox="1"/>
          <p:nvPr/>
        </p:nvSpPr>
        <p:spPr>
          <a:xfrm>
            <a:off x="142253" y="1862525"/>
            <a:ext cx="1173694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Calibri"/>
                <a:ea typeface="Calibri"/>
                <a:cs typeface="Calibri"/>
              </a:rPr>
              <a:t>The team resolves nearly 9 in 10 calls it answers - but answers only 4 in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479CFF-3C6D-95EA-DF94-72D4DD52F7DA}"/>
              </a:ext>
            </a:extLst>
          </p:cNvPr>
          <p:cNvSpPr txBox="1"/>
          <p:nvPr/>
        </p:nvSpPr>
        <p:spPr>
          <a:xfrm>
            <a:off x="147615" y="2938615"/>
            <a:ext cx="50854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7D7D7D"/>
                </a:solidFill>
                <a:ea typeface="+mn-lt"/>
                <a:cs typeface="+mn-lt"/>
              </a:rPr>
              <a:t>Five KPIs </a:t>
            </a:r>
            <a:r>
              <a:rPr lang="en-US">
                <a:solidFill>
                  <a:srgbClr val="7D7D7D"/>
                </a:solidFill>
                <a:ea typeface="+mn-lt"/>
                <a:cs typeface="+mn-lt"/>
              </a:rPr>
              <a:t>summarizing</a:t>
            </a:r>
            <a:r>
              <a:rPr lang="en-US" dirty="0">
                <a:solidFill>
                  <a:srgbClr val="7D7D7D"/>
                </a:solidFill>
                <a:ea typeface="+mn-lt"/>
                <a:cs typeface="+mn-lt"/>
              </a:rPr>
              <a:t> 5,000 calls across Q1 2021</a:t>
            </a:r>
            <a:endParaRPr lang="en-US">
              <a:solidFill>
                <a:srgbClr val="7D7D7D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0A36C1-CEA3-634C-FDB6-994E2DEF4AB8}"/>
              </a:ext>
            </a:extLst>
          </p:cNvPr>
          <p:cNvSpPr/>
          <p:nvPr/>
        </p:nvSpPr>
        <p:spPr>
          <a:xfrm>
            <a:off x="295193" y="3427016"/>
            <a:ext cx="1784653" cy="103322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416C71-54EC-B0A7-465A-DF146FFE840D}"/>
              </a:ext>
            </a:extLst>
          </p:cNvPr>
          <p:cNvSpPr/>
          <p:nvPr/>
        </p:nvSpPr>
        <p:spPr>
          <a:xfrm>
            <a:off x="295206" y="3526389"/>
            <a:ext cx="1781966" cy="949999"/>
          </a:xfrm>
          <a:prstGeom prst="roundRect">
            <a:avLst/>
          </a:prstGeom>
          <a:solidFill>
            <a:schemeClr val="bg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5,000</a:t>
            </a:r>
          </a:p>
          <a:p>
            <a:pPr algn="ctr"/>
            <a:r>
              <a:rPr lang="en-US" sz="14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Total Calls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9FF5121-8D69-EEEC-C4F2-740DE5D95C7F}"/>
              </a:ext>
            </a:extLst>
          </p:cNvPr>
          <p:cNvSpPr/>
          <p:nvPr/>
        </p:nvSpPr>
        <p:spPr>
          <a:xfrm>
            <a:off x="2785108" y="3427016"/>
            <a:ext cx="1784653" cy="1033220"/>
          </a:xfrm>
          <a:prstGeom prst="round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123887-0759-D758-4CE5-DFBDBBCE3872}"/>
              </a:ext>
            </a:extLst>
          </p:cNvPr>
          <p:cNvSpPr/>
          <p:nvPr/>
        </p:nvSpPr>
        <p:spPr>
          <a:xfrm>
            <a:off x="2785121" y="3526389"/>
            <a:ext cx="1781966" cy="949999"/>
          </a:xfrm>
          <a:prstGeom prst="roundRect">
            <a:avLst/>
          </a:prstGeom>
          <a:solidFill>
            <a:srgbClr val="FFF6EC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81%</a:t>
            </a:r>
          </a:p>
          <a:p>
            <a:pPr algn="ctr"/>
            <a:r>
              <a:rPr lang="en-US" sz="14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Answer Rate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581BB4-402D-7536-21A1-3D11C4552633}"/>
              </a:ext>
            </a:extLst>
          </p:cNvPr>
          <p:cNvSpPr/>
          <p:nvPr/>
        </p:nvSpPr>
        <p:spPr>
          <a:xfrm>
            <a:off x="5232107" y="3526389"/>
            <a:ext cx="1781966" cy="949999"/>
          </a:xfrm>
          <a:prstGeom prst="roundRect">
            <a:avLst/>
          </a:prstGeom>
          <a:solidFill>
            <a:schemeClr val="bg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89.9%</a:t>
            </a:r>
          </a:p>
          <a:p>
            <a:pPr algn="ctr"/>
            <a:r>
              <a:rPr lang="en-US" sz="14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Resolution Rate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9B0C87-4E9C-FE2B-C75C-4E245021AA16}"/>
              </a:ext>
            </a:extLst>
          </p:cNvPr>
          <p:cNvSpPr/>
          <p:nvPr/>
        </p:nvSpPr>
        <p:spPr>
          <a:xfrm>
            <a:off x="7722023" y="3526389"/>
            <a:ext cx="1781966" cy="949999"/>
          </a:xfrm>
          <a:prstGeom prst="roundRect">
            <a:avLst/>
          </a:prstGeom>
          <a:solidFill>
            <a:schemeClr val="bg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3.40</a:t>
            </a:r>
          </a:p>
          <a:p>
            <a:pPr algn="ctr"/>
            <a:r>
              <a:rPr lang="en-US" sz="14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Avg Satisfaction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185F0B6-0F71-CDA0-902C-23A278E24C02}"/>
              </a:ext>
            </a:extLst>
          </p:cNvPr>
          <p:cNvSpPr/>
          <p:nvPr/>
        </p:nvSpPr>
        <p:spPr>
          <a:xfrm>
            <a:off x="10104614" y="3526389"/>
            <a:ext cx="1781966" cy="949999"/>
          </a:xfrm>
          <a:prstGeom prst="roundRect">
            <a:avLst/>
          </a:prstGeom>
          <a:solidFill>
            <a:schemeClr val="bg1"/>
          </a:solidFill>
          <a:ln>
            <a:solidFill>
              <a:srgbClr val="7D7D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67.5s</a:t>
            </a:r>
          </a:p>
          <a:p>
            <a:pPr algn="ctr"/>
            <a:r>
              <a:rPr lang="en-US" sz="14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Avg Speed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B5B7E43-C1B4-4712-947D-2090044075C2}"/>
              </a:ext>
            </a:extLst>
          </p:cNvPr>
          <p:cNvSpPr/>
          <p:nvPr/>
        </p:nvSpPr>
        <p:spPr>
          <a:xfrm>
            <a:off x="300590" y="4669594"/>
            <a:ext cx="8308691" cy="1438543"/>
          </a:xfrm>
          <a:prstGeom prst="roundRect">
            <a:avLst/>
          </a:prstGeom>
          <a:solidFill>
            <a:srgbClr val="F1EF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Strong resolution, but a costly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solidFill>
                  <a:srgbClr val="D04A02"/>
                </a:solidFill>
                <a:latin typeface="Calibri"/>
                <a:ea typeface="Calibri"/>
                <a:cs typeface="Calibri"/>
              </a:rPr>
              <a:t>answer-rate gap.</a:t>
            </a:r>
            <a:endParaRPr lang="en-US"/>
          </a:p>
          <a:p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When a call is answered, it has resolved 89.9% of the time - a genuinely strong service level. The problem is not quality; it is capacity. Nearly one in five calls is never answered, representing lost customers and missed resolution opportunities before an agent ever engages.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15989F-A183-90C0-E776-780C30E63988}"/>
              </a:ext>
            </a:extLst>
          </p:cNvPr>
          <p:cNvCxnSpPr/>
          <p:nvPr/>
        </p:nvCxnSpPr>
        <p:spPr>
          <a:xfrm>
            <a:off x="586258" y="6263396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098C0B-E6EF-5C8E-C1E4-DDFC6D0E2344}"/>
              </a:ext>
            </a:extLst>
          </p:cNvPr>
          <p:cNvSpPr/>
          <p:nvPr/>
        </p:nvSpPr>
        <p:spPr>
          <a:xfrm>
            <a:off x="9057425" y="4669618"/>
            <a:ext cx="2831316" cy="1433087"/>
          </a:xfrm>
          <a:prstGeom prst="round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946</a:t>
            </a:r>
          </a:p>
          <a:p>
            <a:pPr algn="ctr"/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calls went unanswered </a:t>
            </a:r>
          </a:p>
          <a:p>
            <a:pPr algn="ctr"/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(19% of all calls)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8564D7-9255-AC73-82A1-EC7131D84B0A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30288A-A6AD-7919-F473-E2424353BA8A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434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893A38-AE6B-30BE-7AEA-4F14E9D492E0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F50A7-5421-D441-E671-30F2B35E1342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Calibri"/>
                <a:ea typeface="Calibri"/>
                <a:cs typeface="Calibri"/>
              </a:rPr>
              <a:t>Key Findings - Where the Gap Lives</a:t>
            </a:r>
          </a:p>
        </p:txBody>
      </p:sp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52957A3D-4C05-810D-D83D-B4BB1491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E2B03D-15F9-6E6C-750E-682EB3FD5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5" y="2418813"/>
            <a:ext cx="5293887" cy="2846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19BB45-0C63-E220-3B4B-80B7393A8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677" y="2413447"/>
            <a:ext cx="5413151" cy="2851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F67198-8F21-6497-292D-E68387505030}"/>
              </a:ext>
            </a:extLst>
          </p:cNvPr>
          <p:cNvSpPr txBox="1"/>
          <p:nvPr/>
        </p:nvSpPr>
        <p:spPr>
          <a:xfrm>
            <a:off x="112396" y="1588753"/>
            <a:ext cx="119127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D04A02"/>
                </a:solidFill>
                <a:latin typeface="Browallia New"/>
                <a:ea typeface="Calibri"/>
                <a:cs typeface="Browallia New"/>
              </a:rPr>
              <a:t>FINDING 02</a:t>
            </a:r>
            <a:endParaRPr lang="en-US">
              <a:solidFill>
                <a:srgbClr val="000000"/>
              </a:solidFill>
              <a:latin typeface="Aptos" panose="020B0004020202020204"/>
              <a:ea typeface="Calibri"/>
              <a:cs typeface="Browallia New"/>
            </a:endParaRPr>
          </a:p>
          <a:p>
            <a:r>
              <a:rPr lang="en-US" sz="2400" b="1" dirty="0">
                <a:latin typeface="Calibri"/>
                <a:ea typeface="Calibri"/>
                <a:cs typeface="Calibri"/>
              </a:rPr>
              <a:t>The unanswered-call gap isn't a rush hour - it's constant across every hour and topic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F9064A-1B18-2CF0-4CF4-510269F2EC44}"/>
              </a:ext>
            </a:extLst>
          </p:cNvPr>
          <p:cNvSpPr/>
          <p:nvPr/>
        </p:nvSpPr>
        <p:spPr>
          <a:xfrm>
            <a:off x="108539" y="5369132"/>
            <a:ext cx="11716908" cy="925576"/>
          </a:xfrm>
          <a:prstGeom prst="round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5193C-FD8F-9BDB-DA78-560FCE80351E}"/>
              </a:ext>
            </a:extLst>
          </p:cNvPr>
          <p:cNvSpPr txBox="1"/>
          <p:nvPr/>
        </p:nvSpPr>
        <p:spPr>
          <a:xfrm>
            <a:off x="108539" y="5365128"/>
            <a:ext cx="117260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EB8C00"/>
                </a:solidFill>
                <a:ea typeface="+mn-lt"/>
                <a:cs typeface="+mn-lt"/>
              </a:rPr>
              <a:t>◆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What this means</a:t>
            </a:r>
            <a:r>
              <a:rPr lang="en-US" dirty="0">
                <a:solidFill>
                  <a:srgbClr val="E8E6E0"/>
                </a:solidFill>
                <a:ea typeface="+mn-lt"/>
                <a:cs typeface="+mn-lt"/>
              </a:rPr>
              <a:t>: Call volume peaks around</a:t>
            </a:r>
            <a:r>
              <a:rPr lang="en-US" dirty="0">
                <a:solidFill>
                  <a:srgbClr val="EB8C00"/>
                </a:solidFill>
                <a:ea typeface="+mn-lt"/>
                <a:cs typeface="+mn-lt"/>
              </a:rPr>
              <a:t> 11am &amp; 1pm</a:t>
            </a:r>
            <a:r>
              <a:rPr lang="en-US" dirty="0">
                <a:solidFill>
                  <a:srgbClr val="E8E6E0"/>
                </a:solidFill>
                <a:ea typeface="+mn-lt"/>
                <a:cs typeface="+mn-lt"/>
              </a:rPr>
              <a:t>, yet the answer rate holds near </a:t>
            </a:r>
            <a:r>
              <a:rPr lang="en-US" dirty="0">
                <a:solidFill>
                  <a:srgbClr val="EB8C00"/>
                </a:solidFill>
                <a:ea typeface="+mn-lt"/>
                <a:cs typeface="+mn-lt"/>
              </a:rPr>
              <a:t>81% all day</a:t>
            </a:r>
            <a:r>
              <a:rPr lang="en-US">
                <a:solidFill>
                  <a:srgbClr val="E8E6E0"/>
                </a:solidFill>
                <a:ea typeface="+mn-lt"/>
                <a:cs typeface="+mn-lt"/>
              </a:rPr>
              <a:t> - and </a:t>
            </a:r>
            <a:r>
              <a:rPr lang="en-US" dirty="0">
                <a:solidFill>
                  <a:srgbClr val="E8E6E0"/>
                </a:solidFill>
                <a:ea typeface="+mn-lt"/>
                <a:cs typeface="+mn-lt"/>
              </a:rPr>
              <a:t>all five topics carry near-equal volume. Because the gap appears everywhere equally, it points to a baseline capacity shortfall, not a peak-hour or single-topic bottleneck.</a:t>
            </a:r>
            <a:endParaRPr lang="en-US" dirty="0">
              <a:solidFill>
                <a:srgbClr val="E8E6E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62FBB-3E16-65C5-6010-633A69AB33E1}"/>
              </a:ext>
            </a:extLst>
          </p:cNvPr>
          <p:cNvCxnSpPr/>
          <p:nvPr/>
        </p:nvCxnSpPr>
        <p:spPr>
          <a:xfrm>
            <a:off x="704315" y="6370720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0AB4CD-8F74-3B14-437D-3D413F3F818B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31023-E2D2-A6C4-0895-B5D5E7BE192A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32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BE773-0E60-9FBF-98B1-816E579B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3" y="2687202"/>
            <a:ext cx="4980427" cy="2705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6BC81-28D3-5F2F-9BF4-25C538C74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77" y="2689082"/>
            <a:ext cx="5345329" cy="27015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857522-D82B-2EA4-3CFA-311119AFFC09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Calibri"/>
                <a:ea typeface="Calibri"/>
                <a:cs typeface="Calibri"/>
              </a:rPr>
              <a:t>Key Findings - The Hidden Specialists</a:t>
            </a: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41B179EF-BBEA-0CA2-48E0-971DBDF8F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63AED6-9943-CABB-28CA-B248B9E0FE74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F5823-37D3-A0EB-A77F-A34FA181C37E}"/>
              </a:ext>
            </a:extLst>
          </p:cNvPr>
          <p:cNvSpPr txBox="1"/>
          <p:nvPr/>
        </p:nvSpPr>
        <p:spPr>
          <a:xfrm>
            <a:off x="126773" y="1588753"/>
            <a:ext cx="1189837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D04A02"/>
                </a:solidFill>
                <a:latin typeface="Browallia New"/>
                <a:ea typeface="Calibri"/>
                <a:cs typeface="Browallia New"/>
              </a:rPr>
              <a:t>FINDING 03</a:t>
            </a:r>
            <a:endParaRPr lang="en-US">
              <a:solidFill>
                <a:srgbClr val="000000"/>
              </a:solidFill>
              <a:latin typeface="Aptos" panose="020B0004020202020204"/>
              <a:ea typeface="Calibri"/>
              <a:cs typeface="Browallia New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Every agent looks alike on resolution - until topic-level data reveals clear strengths and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blind spots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C64499-59E4-10E9-C8E3-BE131D94C51F}"/>
              </a:ext>
            </a:extLst>
          </p:cNvPr>
          <p:cNvSpPr/>
          <p:nvPr/>
        </p:nvSpPr>
        <p:spPr>
          <a:xfrm>
            <a:off x="57510" y="5532749"/>
            <a:ext cx="11867161" cy="743126"/>
          </a:xfrm>
          <a:prstGeom prst="round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352C5-4B72-E622-9835-0A3E2227BE39}"/>
              </a:ext>
            </a:extLst>
          </p:cNvPr>
          <p:cNvSpPr txBox="1"/>
          <p:nvPr/>
        </p:nvSpPr>
        <p:spPr>
          <a:xfrm>
            <a:off x="122311" y="5486019"/>
            <a:ext cx="1176895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solidFill>
                  <a:srgbClr val="EB8C00"/>
                </a:solidFill>
                <a:ea typeface="+mn-lt"/>
                <a:cs typeface="+mn-lt"/>
              </a:rPr>
              <a:t>◆</a:t>
            </a:r>
            <a:r>
              <a:rPr lang="en-US" sz="1600" b="1" dirty="0">
                <a:solidFill>
                  <a:schemeClr val="bg1"/>
                </a:solidFill>
                <a:ea typeface="+mn-lt"/>
                <a:cs typeface="+mn-lt"/>
              </a:rPr>
              <a:t>What this means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: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Resolution rates sit within a tight </a:t>
            </a:r>
            <a:r>
              <a:rPr lang="en-US" sz="1600" dirty="0">
                <a:solidFill>
                  <a:srgbClr val="EB8C00"/>
                </a:solidFill>
                <a:ea typeface="+mn-lt"/>
                <a:cs typeface="+mn-lt"/>
              </a:rPr>
              <a:t>1.7-point band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(88.9–90.6%), suggesting agents are interchangeable. But satisfaction by topic tells a different story: </a:t>
            </a:r>
            <a:r>
              <a:rPr lang="en-US" sz="1600" dirty="0">
                <a:solidFill>
                  <a:srgbClr val="EB8C00"/>
                </a:solidFill>
                <a:ea typeface="+mn-lt"/>
                <a:cs typeface="+mn-lt"/>
              </a:rPr>
              <a:t>Dan leads Technical Support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(3.60) yet lags on Contract calls (3.26). This hidden </a:t>
            </a:r>
            <a:r>
              <a:rPr lang="en-US" sz="1600" dirty="0" err="1">
                <a:solidFill>
                  <a:schemeClr val="bg1"/>
                </a:solidFill>
                <a:ea typeface="+mn-lt"/>
                <a:cs typeface="+mn-lt"/>
              </a:rPr>
              <a:t>specialisation</a:t>
            </a:r>
            <a:r>
              <a:rPr lang="en-US" sz="1600" dirty="0">
                <a:solidFill>
                  <a:schemeClr val="bg1"/>
                </a:solidFill>
                <a:ea typeface="+mn-lt"/>
                <a:cs typeface="+mn-lt"/>
              </a:rPr>
              <a:t> is invisible in aggregate metrics - and it's a lever for smarter call routing.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EAB346-9699-64E0-0BAB-57338C155CD8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A6B320-D1EA-D249-9EA3-9630CBDADA3A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3DDD95-5C3E-290C-FA2A-4E7EF03D2A57}"/>
              </a:ext>
            </a:extLst>
          </p:cNvPr>
          <p:cNvCxnSpPr/>
          <p:nvPr/>
        </p:nvCxnSpPr>
        <p:spPr>
          <a:xfrm>
            <a:off x="704315" y="6370720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70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F06A52-3BFE-C2AA-A5B2-1BCA04F61312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Calibri"/>
                <a:ea typeface="Calibri"/>
                <a:cs typeface="Calibri"/>
              </a:rPr>
              <a:t>Recommendations</a:t>
            </a: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45FF8373-85C4-4BDF-DC90-622192304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DE1ED6-C627-3B0B-4F74-F56F689D4BFF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89978-FA74-0ED4-9B21-208B7A468210}"/>
              </a:ext>
            </a:extLst>
          </p:cNvPr>
          <p:cNvSpPr txBox="1"/>
          <p:nvPr/>
        </p:nvSpPr>
        <p:spPr>
          <a:xfrm>
            <a:off x="126773" y="1588753"/>
            <a:ext cx="1189837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D04A02"/>
                </a:solidFill>
                <a:latin typeface="Browallia New"/>
                <a:ea typeface="+mn-lt"/>
                <a:cs typeface="Browallia New"/>
              </a:rPr>
              <a:t>FROM INSIGHT TO ACTION</a:t>
            </a:r>
            <a:endParaRPr lang="en-US">
              <a:latin typeface="Browallia New"/>
              <a:ea typeface="+mn-lt"/>
              <a:cs typeface="Browallia New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Three moves to close the answer-rate gap - without sacrificing quality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1DBE9C-E392-B149-CA68-792C6B61E000}"/>
              </a:ext>
            </a:extLst>
          </p:cNvPr>
          <p:cNvCxnSpPr/>
          <p:nvPr/>
        </p:nvCxnSpPr>
        <p:spPr>
          <a:xfrm>
            <a:off x="704315" y="6370720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E32D9C-9562-5F54-6474-9F3F92FC4042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7B316-F2AB-AF29-ACF0-EAF58D92FDFC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32BF48-0016-F4CB-57EB-DD1962BD4F3C}"/>
              </a:ext>
            </a:extLst>
          </p:cNvPr>
          <p:cNvSpPr/>
          <p:nvPr/>
        </p:nvSpPr>
        <p:spPr>
          <a:xfrm>
            <a:off x="510148" y="2491808"/>
            <a:ext cx="3387813" cy="3557741"/>
          </a:xfrm>
          <a:prstGeom prst="roundRect">
            <a:avLst/>
          </a:prstGeom>
          <a:solidFill>
            <a:schemeClr val="bg1"/>
          </a:solidFill>
          <a:ln>
            <a:solidFill>
              <a:srgbClr val="E5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1C42E1-4947-01F0-DF56-0F34F837D3C2}"/>
              </a:ext>
            </a:extLst>
          </p:cNvPr>
          <p:cNvSpPr/>
          <p:nvPr/>
        </p:nvSpPr>
        <p:spPr>
          <a:xfrm>
            <a:off x="4404993" y="2491808"/>
            <a:ext cx="3387813" cy="3557741"/>
          </a:xfrm>
          <a:prstGeom prst="roundRect">
            <a:avLst/>
          </a:prstGeom>
          <a:solidFill>
            <a:schemeClr val="bg1"/>
          </a:solidFill>
          <a:ln>
            <a:solidFill>
              <a:srgbClr val="E5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D73E2B-11A0-7E9D-410B-C9A0508A4A6E}"/>
              </a:ext>
            </a:extLst>
          </p:cNvPr>
          <p:cNvSpPr/>
          <p:nvPr/>
        </p:nvSpPr>
        <p:spPr>
          <a:xfrm>
            <a:off x="8299838" y="2491807"/>
            <a:ext cx="3387813" cy="3557741"/>
          </a:xfrm>
          <a:prstGeom prst="roundRect">
            <a:avLst/>
          </a:prstGeom>
          <a:solidFill>
            <a:schemeClr val="bg1"/>
          </a:solidFill>
          <a:ln>
            <a:solidFill>
              <a:srgbClr val="E5E3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EA82729E-35B6-75A9-340A-47D588328806}"/>
              </a:ext>
            </a:extLst>
          </p:cNvPr>
          <p:cNvSpPr/>
          <p:nvPr/>
        </p:nvSpPr>
        <p:spPr>
          <a:xfrm>
            <a:off x="510889" y="2493239"/>
            <a:ext cx="3385119" cy="865512"/>
          </a:xfrm>
          <a:prstGeom prst="round2SameRect">
            <a:avLst/>
          </a:prstGeom>
          <a:solidFill>
            <a:srgbClr val="222220"/>
          </a:solidFill>
          <a:ln>
            <a:solidFill>
              <a:srgbClr val="2222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0AD6673E-0063-E6D4-6BA3-3194F4BB3471}"/>
              </a:ext>
            </a:extLst>
          </p:cNvPr>
          <p:cNvSpPr/>
          <p:nvPr/>
        </p:nvSpPr>
        <p:spPr>
          <a:xfrm>
            <a:off x="4409493" y="2493239"/>
            <a:ext cx="3385119" cy="865512"/>
          </a:xfrm>
          <a:prstGeom prst="round2Same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611BFF70-127E-B5D6-3BA4-4423CA32953C}"/>
              </a:ext>
            </a:extLst>
          </p:cNvPr>
          <p:cNvSpPr/>
          <p:nvPr/>
        </p:nvSpPr>
        <p:spPr>
          <a:xfrm>
            <a:off x="8299238" y="2493239"/>
            <a:ext cx="3385119" cy="865512"/>
          </a:xfrm>
          <a:prstGeom prst="round2Same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7298120-E654-E876-4621-5C84A8505069}"/>
              </a:ext>
            </a:extLst>
          </p:cNvPr>
          <p:cNvSpPr/>
          <p:nvPr/>
        </p:nvSpPr>
        <p:spPr>
          <a:xfrm>
            <a:off x="704449" y="2725340"/>
            <a:ext cx="412942" cy="412942"/>
          </a:xfrm>
          <a:prstGeom prst="flowChartConnector">
            <a:avLst/>
          </a:prstGeom>
          <a:solidFill>
            <a:srgbClr val="D04A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666E811E-9E3A-8B89-F7B5-AB938C8D8446}"/>
              </a:ext>
            </a:extLst>
          </p:cNvPr>
          <p:cNvSpPr/>
          <p:nvPr/>
        </p:nvSpPr>
        <p:spPr>
          <a:xfrm>
            <a:off x="4585332" y="2725340"/>
            <a:ext cx="412942" cy="412942"/>
          </a:xfrm>
          <a:prstGeom prst="flowChartConnector">
            <a:avLst/>
          </a:prstGeom>
          <a:solidFill>
            <a:srgbClr val="D04A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290330D5-F13E-8C65-9C23-D0E3B52B95D8}"/>
              </a:ext>
            </a:extLst>
          </p:cNvPr>
          <p:cNvSpPr/>
          <p:nvPr/>
        </p:nvSpPr>
        <p:spPr>
          <a:xfrm>
            <a:off x="8501658" y="2725339"/>
            <a:ext cx="412942" cy="412942"/>
          </a:xfrm>
          <a:prstGeom prst="flowChartConnector">
            <a:avLst/>
          </a:prstGeom>
          <a:solidFill>
            <a:srgbClr val="D04A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E21EC6-D46F-DEF6-5828-C088949F0157}"/>
              </a:ext>
            </a:extLst>
          </p:cNvPr>
          <p:cNvSpPr txBox="1"/>
          <p:nvPr/>
        </p:nvSpPr>
        <p:spPr>
          <a:xfrm>
            <a:off x="1115812" y="2759679"/>
            <a:ext cx="27784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Increase baseline capacity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BF127-A333-1DAB-CCDC-15EC33F4A35F}"/>
              </a:ext>
            </a:extLst>
          </p:cNvPr>
          <p:cNvSpPr txBox="1"/>
          <p:nvPr/>
        </p:nvSpPr>
        <p:spPr>
          <a:xfrm>
            <a:off x="4991304" y="2757071"/>
            <a:ext cx="2730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Skills-based call routing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FE500E-DFBB-B195-6288-785E318A069E}"/>
              </a:ext>
            </a:extLst>
          </p:cNvPr>
          <p:cNvSpPr txBox="1"/>
          <p:nvPr/>
        </p:nvSpPr>
        <p:spPr>
          <a:xfrm>
            <a:off x="8911648" y="2757070"/>
            <a:ext cx="26955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Targeted topic coaching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42DF5-D5C0-107E-9023-2F58A071A2E0}"/>
              </a:ext>
            </a:extLst>
          </p:cNvPr>
          <p:cNvSpPr txBox="1"/>
          <p:nvPr/>
        </p:nvSpPr>
        <p:spPr>
          <a:xfrm>
            <a:off x="516178" y="3406777"/>
            <a:ext cx="334942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Add front-line headcount or flex scheduling to lift the answer rate. The shortfall is steady all day, so a consistent capacity </a:t>
            </a:r>
            <a:r>
              <a:rPr lang="en-US" sz="1400">
                <a:latin typeface="Calibri"/>
                <a:ea typeface="Calibri"/>
                <a:cs typeface="Calibri"/>
              </a:rPr>
              <a:t>increase - not peak-only </a:t>
            </a:r>
            <a:r>
              <a:rPr lang="en-US" sz="1400" dirty="0">
                <a:latin typeface="Calibri"/>
                <a:ea typeface="Calibri"/>
                <a:cs typeface="Calibri"/>
              </a:rPr>
              <a:t>staffing - is the fix.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1AC0E8-C83A-C5C6-7517-9DD35BA5047E}"/>
              </a:ext>
            </a:extLst>
          </p:cNvPr>
          <p:cNvSpPr txBox="1"/>
          <p:nvPr/>
        </p:nvSpPr>
        <p:spPr>
          <a:xfrm>
            <a:off x="4405922" y="3406777"/>
            <a:ext cx="334942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Route calls to agents who score highest on that topic - e.g. Technical Support to Dan, Contract calls to Diane. Lifts satisfaction using existing staff strengths.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1DFEC5-263F-3271-9C7A-06E997A86912}"/>
              </a:ext>
            </a:extLst>
          </p:cNvPr>
          <p:cNvSpPr txBox="1"/>
          <p:nvPr/>
        </p:nvSpPr>
        <p:spPr>
          <a:xfrm>
            <a:off x="8331108" y="3406776"/>
            <a:ext cx="334942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Pair each agent's strongest topic with their weakest for peer coaching - e.g. Dan mentors on Technical Support while improving on Contract calls.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957D09-1F3A-7CF0-7C87-CD514BF4343A}"/>
              </a:ext>
            </a:extLst>
          </p:cNvPr>
          <p:cNvSpPr txBox="1"/>
          <p:nvPr/>
        </p:nvSpPr>
        <p:spPr>
          <a:xfrm>
            <a:off x="596472" y="4376083"/>
            <a:ext cx="11366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ADDRESSES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978328-7CB6-DC25-B9E5-024AD030885D}"/>
              </a:ext>
            </a:extLst>
          </p:cNvPr>
          <p:cNvSpPr txBox="1"/>
          <p:nvPr/>
        </p:nvSpPr>
        <p:spPr>
          <a:xfrm>
            <a:off x="4406471" y="4376082"/>
            <a:ext cx="11366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F2E4C-83DA-AC65-6758-A30FFF25959F}"/>
              </a:ext>
            </a:extLst>
          </p:cNvPr>
          <p:cNvSpPr txBox="1"/>
          <p:nvPr/>
        </p:nvSpPr>
        <p:spPr>
          <a:xfrm>
            <a:off x="8345868" y="4376083"/>
            <a:ext cx="113662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ADDRESSES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282C84-7D8D-3AB0-199C-9F1F99812285}"/>
              </a:ext>
            </a:extLst>
          </p:cNvPr>
          <p:cNvSpPr txBox="1"/>
          <p:nvPr/>
        </p:nvSpPr>
        <p:spPr>
          <a:xfrm>
            <a:off x="1646507" y="4446690"/>
            <a:ext cx="20721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Finding 01 &amp; 02</a:t>
            </a:r>
            <a:r>
              <a:rPr lang="en-US" sz="1600">
                <a:latin typeface="Calibri"/>
                <a:ea typeface="Calibri"/>
                <a:cs typeface="Calibri"/>
              </a:rPr>
              <a:t> - 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19% unanswered,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constant across hours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335A9D23-7FEA-C94D-DAFD-81B11C566094}"/>
              </a:ext>
            </a:extLst>
          </p:cNvPr>
          <p:cNvSpPr/>
          <p:nvPr/>
        </p:nvSpPr>
        <p:spPr>
          <a:xfrm flipV="1">
            <a:off x="515233" y="5355289"/>
            <a:ext cx="3387220" cy="680233"/>
          </a:xfrm>
          <a:prstGeom prst="round2SameRect">
            <a:avLst/>
          </a:prstGeom>
          <a:solidFill>
            <a:srgbClr val="FFF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EB8C00"/>
              </a:solidFill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A20B9C1B-2B17-8782-7B36-E772CA299A4A}"/>
              </a:ext>
            </a:extLst>
          </p:cNvPr>
          <p:cNvSpPr/>
          <p:nvPr/>
        </p:nvSpPr>
        <p:spPr>
          <a:xfrm flipV="1">
            <a:off x="4397119" y="5355289"/>
            <a:ext cx="3382621" cy="680234"/>
          </a:xfrm>
          <a:prstGeom prst="round2SameRect">
            <a:avLst/>
          </a:prstGeom>
          <a:solidFill>
            <a:srgbClr val="FFF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EEFDFDC6-4FAB-0485-FF7C-60C13078FE79}"/>
              </a:ext>
            </a:extLst>
          </p:cNvPr>
          <p:cNvSpPr/>
          <p:nvPr/>
        </p:nvSpPr>
        <p:spPr>
          <a:xfrm flipV="1">
            <a:off x="8322138" y="5355288"/>
            <a:ext cx="3382621" cy="680234"/>
          </a:xfrm>
          <a:prstGeom prst="round2SameRect">
            <a:avLst/>
          </a:prstGeom>
          <a:solidFill>
            <a:srgbClr val="FFF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258F53-0C7C-76C1-0BE6-B78B30CFED0D}"/>
              </a:ext>
            </a:extLst>
          </p:cNvPr>
          <p:cNvSpPr txBox="1"/>
          <p:nvPr/>
        </p:nvSpPr>
        <p:spPr>
          <a:xfrm>
            <a:off x="5413374" y="4532953"/>
            <a:ext cx="20721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Calibri"/>
                <a:ea typeface="Calibri"/>
                <a:cs typeface="Calibri"/>
              </a:rPr>
              <a:t>Finding 03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 - hidden topic specialisation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FE79F2-7452-7594-7A71-45FAE3A94C35}"/>
              </a:ext>
            </a:extLst>
          </p:cNvPr>
          <p:cNvSpPr txBox="1"/>
          <p:nvPr/>
        </p:nvSpPr>
        <p:spPr>
          <a:xfrm>
            <a:off x="9352770" y="4532952"/>
            <a:ext cx="20721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Calibri"/>
                <a:ea typeface="Calibri"/>
                <a:cs typeface="Calibri"/>
              </a:rPr>
              <a:t>Finding 03</a:t>
            </a:r>
            <a:r>
              <a:rPr lang="en-US" sz="1600">
                <a:solidFill>
                  <a:schemeClr val="bg2">
                    <a:lumMod val="25000"/>
                  </a:schemeClr>
                </a:solidFill>
                <a:latin typeface="Calibri"/>
                <a:ea typeface="Calibri"/>
                <a:cs typeface="Calibri"/>
              </a:rPr>
              <a:t> - per-agent blind spots</a:t>
            </a:r>
            <a:endParaRPr lang="en-US" dirty="0">
              <a:solidFill>
                <a:schemeClr val="bg2">
                  <a:lumMod val="25000"/>
                </a:schemeClr>
              </a:solidFill>
              <a:latin typeface="Aptos" panose="020B0004020202020204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C20BC5-C65C-1A6A-8755-ED1C701D9B5F}"/>
              </a:ext>
            </a:extLst>
          </p:cNvPr>
          <p:cNvSpPr txBox="1"/>
          <p:nvPr/>
        </p:nvSpPr>
        <p:spPr>
          <a:xfrm>
            <a:off x="581132" y="5410229"/>
            <a:ext cx="33176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Impact: </a:t>
            </a:r>
            <a:r>
              <a:rPr lang="en-US" sz="1400">
                <a:solidFill>
                  <a:srgbClr val="7D4012"/>
                </a:solidFill>
                <a:latin typeface="Calibri"/>
                <a:ea typeface="Calibri"/>
                <a:cs typeface="Calibri"/>
              </a:rPr>
              <a:t>Directly recovers a share of 946 lost calls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C2F572-C8C4-BC1D-D39E-EC35503F5EDC}"/>
              </a:ext>
            </a:extLst>
          </p:cNvPr>
          <p:cNvSpPr txBox="1"/>
          <p:nvPr/>
        </p:nvSpPr>
        <p:spPr>
          <a:xfrm>
            <a:off x="4434264" y="5410228"/>
            <a:ext cx="33176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Impact: </a:t>
            </a:r>
            <a:r>
              <a:rPr lang="en-US" sz="1400">
                <a:solidFill>
                  <a:srgbClr val="7D4012"/>
                </a:solidFill>
                <a:latin typeface="Calibri"/>
                <a:ea typeface="Calibri"/>
                <a:cs typeface="Calibri"/>
              </a:rPr>
              <a:t>Higher satisfaction at zero added headcount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AEC196-4939-8643-9D4C-39E35438E516}"/>
              </a:ext>
            </a:extLst>
          </p:cNvPr>
          <p:cNvSpPr txBox="1"/>
          <p:nvPr/>
        </p:nvSpPr>
        <p:spPr>
          <a:xfrm>
            <a:off x="8316151" y="5410229"/>
            <a:ext cx="331767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Impact: </a:t>
            </a:r>
            <a:r>
              <a:rPr lang="en-US" sz="1400">
                <a:solidFill>
                  <a:srgbClr val="7D4012"/>
                </a:solidFill>
                <a:latin typeface="Calibri"/>
                <a:ea typeface="Calibri"/>
                <a:cs typeface="Calibri"/>
              </a:rPr>
              <a:t>Narrows the satisfaction spread over time</a:t>
            </a:r>
          </a:p>
        </p:txBody>
      </p:sp>
    </p:spTree>
    <p:extLst>
      <p:ext uri="{BB962C8B-B14F-4D97-AF65-F5344CB8AC3E}">
        <p14:creationId xmlns:p14="http://schemas.microsoft.com/office/powerpoint/2010/main" val="285253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FBF018-1993-6A81-C9DF-373DC47DFB7A}"/>
              </a:ext>
            </a:extLst>
          </p:cNvPr>
          <p:cNvCxnSpPr/>
          <p:nvPr/>
        </p:nvCxnSpPr>
        <p:spPr>
          <a:xfrm>
            <a:off x="704315" y="6370720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77213E-E5F4-3173-491E-9657A87BE936}"/>
              </a:ext>
            </a:extLst>
          </p:cNvPr>
          <p:cNvSpPr txBox="1"/>
          <p:nvPr/>
        </p:nvSpPr>
        <p:spPr>
          <a:xfrm>
            <a:off x="590281" y="6340161"/>
            <a:ext cx="440973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PwC</a:t>
            </a:r>
            <a:r>
              <a:rPr lang="en-US" sz="1200" b="1" dirty="0">
                <a:latin typeface="Calibri"/>
                <a:ea typeface="Calibri"/>
                <a:cs typeface="Calibri"/>
              </a:rPr>
              <a:t> </a:t>
            </a:r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Call Centre Performance  - Data Analysis Portfolio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20076-06E1-06C3-D7B5-6AED46A11676}"/>
              </a:ext>
            </a:extLst>
          </p:cNvPr>
          <p:cNvSpPr txBox="1"/>
          <p:nvPr/>
        </p:nvSpPr>
        <p:spPr>
          <a:xfrm>
            <a:off x="9497019" y="6338501"/>
            <a:ext cx="21723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7D7D7D"/>
                </a:solidFill>
                <a:latin typeface="Calibri"/>
                <a:ea typeface="Calibri"/>
                <a:cs typeface="Calibri"/>
              </a:rPr>
              <a:t>Amisha Gadekar  |  2026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B0F5FF-D240-443B-802B-F3A21F3F3290}"/>
              </a:ext>
            </a:extLst>
          </p:cNvPr>
          <p:cNvSpPr/>
          <p:nvPr/>
        </p:nvSpPr>
        <p:spPr>
          <a:xfrm>
            <a:off x="139569" y="252264"/>
            <a:ext cx="11889049" cy="12344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Calibri"/>
                <a:ea typeface="Calibri"/>
                <a:cs typeface="Calibri"/>
              </a:rPr>
              <a:t>The Interactive Dashboard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25A0898A-2A87-7A9B-DEC7-8BC10422F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2" y="332704"/>
            <a:ext cx="1210500" cy="108397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DB8B98-11BF-EEE6-DF95-9DC1F3FDDCCB}"/>
              </a:ext>
            </a:extLst>
          </p:cNvPr>
          <p:cNvSpPr/>
          <p:nvPr/>
        </p:nvSpPr>
        <p:spPr>
          <a:xfrm>
            <a:off x="136884" y="1481353"/>
            <a:ext cx="11889256" cy="10197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F5D9EC-4DA8-7516-0403-FFB588DA8CAE}"/>
              </a:ext>
            </a:extLst>
          </p:cNvPr>
          <p:cNvSpPr txBox="1"/>
          <p:nvPr/>
        </p:nvSpPr>
        <p:spPr>
          <a:xfrm>
            <a:off x="126773" y="1588753"/>
            <a:ext cx="1189837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D04A02"/>
                </a:solidFill>
                <a:latin typeface="Browallia New"/>
                <a:ea typeface="Calibri"/>
                <a:cs typeface="Browallia New"/>
              </a:rPr>
              <a:t>BUILT IN POWER BI</a:t>
            </a:r>
            <a:endParaRPr lang="en-US">
              <a:latin typeface="Browallia New"/>
              <a:ea typeface="Calibri"/>
              <a:cs typeface="Browallia New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A 2-page interactive dashboard that lets managers explore the data themselves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210C44-A34B-44B6-5FDC-C9BC9B8ECF7D}"/>
              </a:ext>
            </a:extLst>
          </p:cNvPr>
          <p:cNvSpPr/>
          <p:nvPr/>
        </p:nvSpPr>
        <p:spPr>
          <a:xfrm>
            <a:off x="140538" y="5118279"/>
            <a:ext cx="11898701" cy="914400"/>
          </a:xfrm>
          <a:prstGeom prst="roundRect">
            <a:avLst/>
          </a:prstGeom>
          <a:solidFill>
            <a:srgbClr val="2222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36FE1AFF-D121-7991-3653-39BA5EA21197}"/>
              </a:ext>
            </a:extLst>
          </p:cNvPr>
          <p:cNvSpPr/>
          <p:nvPr/>
        </p:nvSpPr>
        <p:spPr>
          <a:xfrm>
            <a:off x="1234114" y="5491856"/>
            <a:ext cx="168125" cy="190541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1D455EBD-D47C-2385-07AC-4BD284A40CFE}"/>
              </a:ext>
            </a:extLst>
          </p:cNvPr>
          <p:cNvSpPr/>
          <p:nvPr/>
        </p:nvSpPr>
        <p:spPr>
          <a:xfrm>
            <a:off x="4193511" y="5491855"/>
            <a:ext cx="168125" cy="190541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CE278022-BEBF-6C17-B7EB-DC7469C04100}"/>
              </a:ext>
            </a:extLst>
          </p:cNvPr>
          <p:cNvSpPr/>
          <p:nvPr/>
        </p:nvSpPr>
        <p:spPr>
          <a:xfrm>
            <a:off x="7253549" y="5491855"/>
            <a:ext cx="168125" cy="190541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43B38347-5BE5-58DE-E38F-395131615106}"/>
              </a:ext>
            </a:extLst>
          </p:cNvPr>
          <p:cNvSpPr/>
          <p:nvPr/>
        </p:nvSpPr>
        <p:spPr>
          <a:xfrm>
            <a:off x="9724116" y="5491855"/>
            <a:ext cx="168125" cy="190541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B021B-361E-55AD-5127-5F99C9ACB372}"/>
              </a:ext>
            </a:extLst>
          </p:cNvPr>
          <p:cNvSpPr txBox="1"/>
          <p:nvPr/>
        </p:nvSpPr>
        <p:spPr>
          <a:xfrm>
            <a:off x="1406080" y="5341746"/>
            <a:ext cx="2095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Interactive slicers</a:t>
            </a:r>
          </a:p>
          <a:p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Filter any view by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FBC20-C691-E8D8-8591-0A0F3993044F}"/>
              </a:ext>
            </a:extLst>
          </p:cNvPr>
          <p:cNvSpPr txBox="1"/>
          <p:nvPr/>
        </p:nvSpPr>
        <p:spPr>
          <a:xfrm>
            <a:off x="4358280" y="5333705"/>
            <a:ext cx="261577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Custom DAX measures</a:t>
            </a:r>
          </a:p>
          <a:p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Answer &amp; resolution rates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56782-7545-8EA3-9D94-EA1F007069F2}"/>
              </a:ext>
            </a:extLst>
          </p:cNvPr>
          <p:cNvSpPr txBox="1"/>
          <p:nvPr/>
        </p:nvSpPr>
        <p:spPr>
          <a:xfrm>
            <a:off x="7386301" y="5357590"/>
            <a:ext cx="225287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Drill-down detail</a:t>
            </a:r>
          </a:p>
          <a:p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Agent × topic heatmap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5EFA8-F047-FC5D-2988-C61D3282EA05}"/>
              </a:ext>
            </a:extLst>
          </p:cNvPr>
          <p:cNvSpPr txBox="1"/>
          <p:nvPr/>
        </p:nvSpPr>
        <p:spPr>
          <a:xfrm>
            <a:off x="9919387" y="5346382"/>
            <a:ext cx="209596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Cross-validated</a:t>
            </a: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Matches Python &amp; SQL</a:t>
            </a:r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BA738C-82D1-49F7-AF14-4839576D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73" y="2409879"/>
            <a:ext cx="5760721" cy="27139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32D1B3-784E-395D-51CC-A3DD4755E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690" y="2415396"/>
            <a:ext cx="6293337" cy="270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5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BA4020-C3FA-342C-0B0B-248AD60E9C42}"/>
              </a:ext>
            </a:extLst>
          </p:cNvPr>
          <p:cNvCxnSpPr/>
          <p:nvPr/>
        </p:nvCxnSpPr>
        <p:spPr>
          <a:xfrm>
            <a:off x="803139" y="6060604"/>
            <a:ext cx="10584884" cy="13415"/>
          </a:xfrm>
          <a:prstGeom prst="straightConnector1">
            <a:avLst/>
          </a:prstGeom>
          <a:ln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EE5BBF0-81E9-FDE9-1A1D-098B085CC30B}"/>
              </a:ext>
            </a:extLst>
          </p:cNvPr>
          <p:cNvSpPr txBox="1"/>
          <p:nvPr/>
        </p:nvSpPr>
        <p:spPr>
          <a:xfrm>
            <a:off x="572560" y="6127512"/>
            <a:ext cx="554386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Amisha Gadekar | gadekaramisha@gmail.com |               [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: AmishaGadekar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/ </a:t>
            </a: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github.com/gadekaramisha-ops</a:t>
            </a:r>
            <a:endParaRPr lang="en-US" sz="16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328D3E2F-1210-9304-26CB-409412A0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72" y="332704"/>
            <a:ext cx="894199" cy="796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EB9ED4-DE12-6538-3B44-CF5CC86066D1}"/>
              </a:ext>
            </a:extLst>
          </p:cNvPr>
          <p:cNvSpPr txBox="1"/>
          <p:nvPr/>
        </p:nvSpPr>
        <p:spPr>
          <a:xfrm>
            <a:off x="1429064" y="328155"/>
            <a:ext cx="399757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9C9A93"/>
                </a:solidFill>
                <a:latin typeface="Calibri"/>
                <a:ea typeface="Calibri"/>
                <a:cs typeface="Calibri"/>
              </a:rPr>
              <a:t>DATA ANALYSIS PORTFOLIO PROJECT</a:t>
            </a:r>
          </a:p>
          <a:p>
            <a:r>
              <a:rPr lang="en-US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 dirty="0">
              <a:solidFill>
                <a:srgbClr val="EB8C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379F4-B4E0-1F2A-DBF8-2DFE3533EB65}"/>
              </a:ext>
            </a:extLst>
          </p:cNvPr>
          <p:cNvSpPr txBox="1"/>
          <p:nvPr/>
        </p:nvSpPr>
        <p:spPr>
          <a:xfrm>
            <a:off x="296398" y="1333793"/>
            <a:ext cx="75134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From raw data to decision-ready insight.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C3C06-6256-7546-6541-503BF7F7C271}"/>
              </a:ext>
            </a:extLst>
          </p:cNvPr>
          <p:cNvSpPr txBox="1"/>
          <p:nvPr/>
        </p:nvSpPr>
        <p:spPr>
          <a:xfrm>
            <a:off x="264641" y="1894833"/>
            <a:ext cx="466827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EB8C00"/>
                </a:solidFill>
                <a:ea typeface="+mn-lt"/>
                <a:cs typeface="+mn-lt"/>
              </a:rPr>
              <a:t>Amisha Gadekar - Aspiring Business Analyst</a:t>
            </a:r>
            <a:endParaRPr lang="en-US" sz="1600" b="1">
              <a:solidFill>
                <a:srgbClr val="EB8C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06B1FF-EB11-5816-CA33-83302FE44D92}"/>
              </a:ext>
            </a:extLst>
          </p:cNvPr>
          <p:cNvSpPr/>
          <p:nvPr/>
        </p:nvSpPr>
        <p:spPr>
          <a:xfrm>
            <a:off x="338741" y="2343794"/>
            <a:ext cx="1429064" cy="116442"/>
          </a:xfrm>
          <a:prstGeom prst="rect">
            <a:avLst/>
          </a:prstGeom>
          <a:solidFill>
            <a:srgbClr val="D04A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D6D38-6CCA-37D4-8698-464C8EBA728D}"/>
              </a:ext>
            </a:extLst>
          </p:cNvPr>
          <p:cNvSpPr txBox="1"/>
          <p:nvPr/>
        </p:nvSpPr>
        <p:spPr>
          <a:xfrm>
            <a:off x="328155" y="2466459"/>
            <a:ext cx="114431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B4B2A9"/>
                </a:solidFill>
                <a:ea typeface="+mn-lt"/>
                <a:cs typeface="+mn-lt"/>
              </a:rPr>
              <a:t>This project demonstrates an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end-to-end analytics workflow</a:t>
            </a:r>
            <a:r>
              <a:rPr lang="en-US" dirty="0">
                <a:solidFill>
                  <a:srgbClr val="B4B2A9"/>
                </a:solidFill>
                <a:ea typeface="+mn-lt"/>
                <a:cs typeface="+mn-lt"/>
              </a:rPr>
              <a:t> - cleaning and preparing data in Python, querying KPIs in SQL, and building an interactive Power BI dashboard - to turn 5,000 raw call records into </a:t>
            </a:r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three evidence-based recommendations</a:t>
            </a:r>
            <a:r>
              <a:rPr lang="en-US" dirty="0">
                <a:solidFill>
                  <a:srgbClr val="B4B2A9"/>
                </a:solidFill>
                <a:ea typeface="+mn-lt"/>
                <a:cs typeface="+mn-lt"/>
              </a:rPr>
              <a:t> for management.</a:t>
            </a:r>
            <a:endParaRPr lang="en-US" dirty="0">
              <a:solidFill>
                <a:srgbClr val="B4B2A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D43B0-6703-5E44-92C1-C84EFC9671F7}"/>
              </a:ext>
            </a:extLst>
          </p:cNvPr>
          <p:cNvSpPr txBox="1"/>
          <p:nvPr/>
        </p:nvSpPr>
        <p:spPr>
          <a:xfrm>
            <a:off x="337951" y="3417590"/>
            <a:ext cx="15249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C9A93"/>
                </a:solidFill>
                <a:latin typeface="Calibri"/>
                <a:ea typeface="Calibri"/>
                <a:cs typeface="Calibri"/>
              </a:rPr>
              <a:t>TOOLS USED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CDB8F9-9C76-8460-5746-5D884E34122E}"/>
              </a:ext>
            </a:extLst>
          </p:cNvPr>
          <p:cNvSpPr txBox="1"/>
          <p:nvPr/>
        </p:nvSpPr>
        <p:spPr>
          <a:xfrm>
            <a:off x="6271436" y="3592478"/>
            <a:ext cx="2875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9C9A93"/>
                </a:solidFill>
                <a:latin typeface="Calibri"/>
                <a:ea typeface="Calibri"/>
                <a:cs typeface="Calibri"/>
              </a:rPr>
              <a:t>SKILLS DEMONSTRATED</a:t>
            </a:r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5ED687B9-82E9-62B5-9658-273F0FE6F902}"/>
              </a:ext>
            </a:extLst>
          </p:cNvPr>
          <p:cNvSpPr/>
          <p:nvPr/>
        </p:nvSpPr>
        <p:spPr>
          <a:xfrm>
            <a:off x="415971" y="3824257"/>
            <a:ext cx="1033220" cy="389134"/>
          </a:xfrm>
          <a:prstGeom prst="flowChartTerminator">
            <a:avLst/>
          </a:prstGeom>
          <a:solidFill>
            <a:schemeClr val="tx1"/>
          </a:solidFill>
          <a:ln>
            <a:solidFill>
              <a:srgbClr val="D04A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7390344A-9A27-D74E-882E-A96A3A8CCA4E}"/>
              </a:ext>
            </a:extLst>
          </p:cNvPr>
          <p:cNvSpPr/>
          <p:nvPr/>
        </p:nvSpPr>
        <p:spPr>
          <a:xfrm>
            <a:off x="1656436" y="3824257"/>
            <a:ext cx="1033220" cy="389134"/>
          </a:xfrm>
          <a:prstGeom prst="flowChartTerminator">
            <a:avLst/>
          </a:prstGeom>
          <a:solidFill>
            <a:schemeClr val="tx1"/>
          </a:solidFill>
          <a:ln>
            <a:solidFill>
              <a:srgbClr val="D04A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MySQL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AB247403-B870-0B70-52A6-82D86E95DC13}"/>
              </a:ext>
            </a:extLst>
          </p:cNvPr>
          <p:cNvSpPr/>
          <p:nvPr/>
        </p:nvSpPr>
        <p:spPr>
          <a:xfrm>
            <a:off x="2852598" y="3824256"/>
            <a:ext cx="1369917" cy="389134"/>
          </a:xfrm>
          <a:prstGeom prst="flowChartTerminator">
            <a:avLst/>
          </a:prstGeom>
          <a:solidFill>
            <a:schemeClr val="tx1"/>
          </a:solidFill>
          <a:ln>
            <a:solidFill>
              <a:srgbClr val="D04A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Power BI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8929C0CF-CA47-4BC9-0463-6B09DC145F9E}"/>
              </a:ext>
            </a:extLst>
          </p:cNvPr>
          <p:cNvSpPr/>
          <p:nvPr/>
        </p:nvSpPr>
        <p:spPr>
          <a:xfrm>
            <a:off x="4385459" y="3824256"/>
            <a:ext cx="1033220" cy="389134"/>
          </a:xfrm>
          <a:prstGeom prst="flowChartTerminator">
            <a:avLst/>
          </a:prstGeom>
          <a:solidFill>
            <a:schemeClr val="tx1"/>
          </a:solidFill>
          <a:ln>
            <a:solidFill>
              <a:srgbClr val="D04A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rgbClr val="EB8C00"/>
                </a:solidFill>
                <a:latin typeface="Calibri"/>
                <a:ea typeface="Calibri"/>
                <a:cs typeface="Calibri"/>
              </a:rPr>
              <a:t>DAX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B65E49B8-A9CF-8CB7-D3A3-22D1F23DD12E}"/>
              </a:ext>
            </a:extLst>
          </p:cNvPr>
          <p:cNvSpPr/>
          <p:nvPr/>
        </p:nvSpPr>
        <p:spPr>
          <a:xfrm>
            <a:off x="6272738" y="4081210"/>
            <a:ext cx="1839521" cy="353692"/>
          </a:xfrm>
          <a:prstGeom prst="flowChartTerminator">
            <a:avLst/>
          </a:prstGeom>
          <a:solidFill>
            <a:srgbClr val="2E2E2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Data cleaning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AFB578F8-32F0-7729-F871-4FCD1AD5701D}"/>
              </a:ext>
            </a:extLst>
          </p:cNvPr>
          <p:cNvSpPr/>
          <p:nvPr/>
        </p:nvSpPr>
        <p:spPr>
          <a:xfrm>
            <a:off x="8239761" y="4081210"/>
            <a:ext cx="1609150" cy="353692"/>
          </a:xfrm>
          <a:prstGeom prst="flowChartTerminator">
            <a:avLst/>
          </a:prstGeom>
          <a:solidFill>
            <a:srgbClr val="2E2E2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SQL analysis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75F572B1-9B6D-567C-A187-D07B221804A6}"/>
              </a:ext>
            </a:extLst>
          </p:cNvPr>
          <p:cNvSpPr/>
          <p:nvPr/>
        </p:nvSpPr>
        <p:spPr>
          <a:xfrm>
            <a:off x="6272737" y="4577396"/>
            <a:ext cx="2202799" cy="362552"/>
          </a:xfrm>
          <a:prstGeom prst="flowChartTerminator">
            <a:avLst/>
          </a:prstGeom>
          <a:solidFill>
            <a:srgbClr val="2E2E2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Data visualisation</a:t>
            </a:r>
            <a:endParaRPr lang="en-US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D8F9065A-6140-637C-29C8-40F92697CCE3}"/>
              </a:ext>
            </a:extLst>
          </p:cNvPr>
          <p:cNvSpPr/>
          <p:nvPr/>
        </p:nvSpPr>
        <p:spPr>
          <a:xfrm>
            <a:off x="8603039" y="4577396"/>
            <a:ext cx="2202799" cy="362552"/>
          </a:xfrm>
          <a:prstGeom prst="flowChartTerminator">
            <a:avLst/>
          </a:prstGeom>
          <a:solidFill>
            <a:srgbClr val="2E2E2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Dashboard design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5E260919-38DC-06A6-9506-169D5ADEE0E4}"/>
              </a:ext>
            </a:extLst>
          </p:cNvPr>
          <p:cNvSpPr/>
          <p:nvPr/>
        </p:nvSpPr>
        <p:spPr>
          <a:xfrm>
            <a:off x="6272736" y="5046999"/>
            <a:ext cx="2539496" cy="344832"/>
          </a:xfrm>
          <a:prstGeom prst="flowChartTerminator">
            <a:avLst/>
          </a:prstGeom>
          <a:solidFill>
            <a:srgbClr val="2E2E2C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2"/>
                </a:solidFill>
                <a:ea typeface="+mn-lt"/>
                <a:cs typeface="+mn-lt"/>
              </a:rPr>
              <a:t>Business storytelling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BCAB84-CFF7-3938-C776-36504E18F73F}"/>
              </a:ext>
            </a:extLst>
          </p:cNvPr>
          <p:cNvSpPr txBox="1"/>
          <p:nvPr/>
        </p:nvSpPr>
        <p:spPr>
          <a:xfrm>
            <a:off x="7586402" y="6269245"/>
            <a:ext cx="42300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9C9A93"/>
                </a:solidFill>
                <a:ea typeface="+mn-lt"/>
                <a:cs typeface="+mn-lt"/>
              </a:rPr>
              <a:t>PwC Call Centre Performance · 2026</a:t>
            </a:r>
            <a:r>
              <a:rPr lang="en-US" dirty="0">
                <a:solidFill>
                  <a:srgbClr val="9C9A93"/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rgbClr val="9C9A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93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1484</cp:revision>
  <dcterms:created xsi:type="dcterms:W3CDTF">2026-05-27T04:26:13Z</dcterms:created>
  <dcterms:modified xsi:type="dcterms:W3CDTF">2026-06-14T03:21:23Z</dcterms:modified>
</cp:coreProperties>
</file>